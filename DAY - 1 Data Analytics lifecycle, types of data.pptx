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797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435600" cy="11308715"/>
          </a:xfrm>
          <a:custGeom>
            <a:avLst/>
            <a:gdLst/>
            <a:ahLst/>
            <a:cxnLst/>
            <a:rect l="l" t="t" r="r" b="b"/>
            <a:pathLst>
              <a:path w="5435600" h="11308715">
                <a:moveTo>
                  <a:pt x="5435227" y="0"/>
                </a:moveTo>
                <a:lnTo>
                  <a:pt x="0" y="0"/>
                </a:lnTo>
                <a:lnTo>
                  <a:pt x="0" y="11308556"/>
                </a:lnTo>
                <a:lnTo>
                  <a:pt x="5435227" y="11308556"/>
                </a:lnTo>
                <a:lnTo>
                  <a:pt x="5435227" y="0"/>
                </a:lnTo>
                <a:close/>
              </a:path>
            </a:pathLst>
          </a:custGeom>
          <a:solidFill>
            <a:srgbClr val="0F92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2324" y="195175"/>
            <a:ext cx="3156343" cy="31563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C321AC-8F84-FBEC-168E-E68C2D5A5944}"/>
              </a:ext>
            </a:extLst>
          </p:cNvPr>
          <p:cNvSpPr txBox="1"/>
          <p:nvPr/>
        </p:nvSpPr>
        <p:spPr>
          <a:xfrm>
            <a:off x="9137650" y="4885234"/>
            <a:ext cx="80803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Excel for </a:t>
            </a:r>
            <a:r>
              <a:rPr lang="en-IN" sz="44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Data</a:t>
            </a:r>
            <a:r>
              <a:rPr lang="en-IN" sz="40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 Analytics</a:t>
            </a:r>
            <a:endParaRPr lang="en-IN" sz="4000" b="1" dirty="0">
              <a:latin typeface="Helvetica Neue" panose="02000603050000020004" pitchFamily="50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66A90-96DF-4A7F-4975-3C174799920A}"/>
              </a:ext>
            </a:extLst>
          </p:cNvPr>
          <p:cNvSpPr txBox="1"/>
          <p:nvPr/>
        </p:nvSpPr>
        <p:spPr>
          <a:xfrm>
            <a:off x="7308850" y="4946789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rtl="0">
              <a:spcBef>
                <a:spcPts val="2400"/>
              </a:spcBef>
              <a:buNone/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Data Analytics Lifecycle &amp; Types of Data</a:t>
            </a:r>
            <a:endParaRPr lang="en-US" sz="4000" b="1" dirty="0">
              <a:effectLst/>
              <a:latin typeface="Helvetica Neue" panose="02000603050000020004" pitchFamily="50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9697DD-A912-20FC-FF84-4A2AB963DF79}"/>
              </a:ext>
            </a:extLst>
          </p:cNvPr>
          <p:cNvGrpSpPr/>
          <p:nvPr/>
        </p:nvGrpSpPr>
        <p:grpSpPr>
          <a:xfrm>
            <a:off x="5784850" y="1082675"/>
            <a:ext cx="13944600" cy="9110889"/>
            <a:chOff x="703193" y="620401"/>
            <a:chExt cx="9394963" cy="91108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87672E-0522-9BEF-9A92-9906E440B20D}"/>
                </a:ext>
              </a:extLst>
            </p:cNvPr>
            <p:cNvSpPr txBox="1"/>
            <p:nvPr/>
          </p:nvSpPr>
          <p:spPr>
            <a:xfrm>
              <a:off x="703193" y="620401"/>
              <a:ext cx="6097656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4000" b="0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Introduction to Data Analytics</a:t>
              </a:r>
              <a:endParaRPr lang="en-IN" sz="4000" dirty="0">
                <a:latin typeface="Helvetica Neue" panose="02000603050000020004" pitchFamily="50" charset="-52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2720645-2BFA-7089-4C7B-88A73CD577ED}"/>
                </a:ext>
              </a:extLst>
            </p:cNvPr>
            <p:cNvSpPr txBox="1"/>
            <p:nvPr/>
          </p:nvSpPr>
          <p:spPr>
            <a:xfrm>
              <a:off x="703193" y="1595089"/>
              <a:ext cx="8808555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0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Data Analytics means </a:t>
              </a:r>
              <a:r>
                <a:rPr lang="en-US" sz="3600" b="1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examining raw data</a:t>
              </a:r>
              <a:r>
                <a:rPr lang="en-US" sz="3600" b="0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 to find useful information, patterns, and insights that help in decision-making.</a:t>
              </a:r>
            </a:p>
            <a:p>
              <a:endParaRPr lang="en-IN" sz="3600" dirty="0">
                <a:latin typeface="Helvetica Neue" panose="02000603050000020004" pitchFamily="50" charset="-5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04BFA18-5A57-CF18-995E-D7CF4CC95401}"/>
                </a:ext>
              </a:extLst>
            </p:cNvPr>
            <p:cNvSpPr txBox="1"/>
            <p:nvPr/>
          </p:nvSpPr>
          <p:spPr>
            <a:xfrm>
              <a:off x="703193" y="3555470"/>
              <a:ext cx="60976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Why important?</a:t>
              </a:r>
              <a:endParaRPr lang="en-IN" sz="3600" dirty="0">
                <a:latin typeface="Helvetica Neue" panose="02000603050000020004" pitchFamily="50" charset="-5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F33196-FAAE-080B-6059-152D211A9E4A}"/>
                </a:ext>
              </a:extLst>
            </p:cNvPr>
            <p:cNvSpPr txBox="1"/>
            <p:nvPr/>
          </p:nvSpPr>
          <p:spPr>
            <a:xfrm>
              <a:off x="703193" y="4745310"/>
              <a:ext cx="9394963" cy="49859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rtl="0" fontAlgn="base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3600" b="0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Helps businesses increase profit (Amazon recommending products).</a:t>
              </a:r>
            </a:p>
            <a:p>
              <a:pPr rtl="0" fontAlgn="base">
                <a:spcBef>
                  <a:spcPts val="1200"/>
                </a:spcBef>
              </a:pPr>
              <a:endParaRPr lang="en-US" sz="36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endParaRPr>
            </a:p>
            <a:p>
              <a:pPr marL="285750" indent="-285750" rtl="0" fontAlgn="base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3600" b="0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Helps healthcare save lives (predicting diseases).</a:t>
              </a:r>
            </a:p>
            <a:p>
              <a:pPr rtl="0" fontAlgn="base">
                <a:spcBef>
                  <a:spcPts val="1200"/>
                </a:spcBef>
              </a:pPr>
              <a:endParaRPr lang="en-US" sz="36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b="0" i="0" u="none" strike="noStrike" dirty="0">
                  <a:solidFill>
                    <a:srgbClr val="000000"/>
                  </a:solidFill>
                  <a:effectLst/>
                  <a:latin typeface="Helvetica Neue" panose="02000603050000020004" pitchFamily="50" charset="-52"/>
                </a:rPr>
                <a:t>Helps governments plan better (traffic monitoring, weather prediction).</a:t>
              </a:r>
              <a:endParaRPr lang="en-IN" sz="3600" dirty="0">
                <a:latin typeface="Helvetica Neue" panose="02000603050000020004" pitchFamily="50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91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49461-44C0-43C1-F543-D47FA791CDF8}"/>
              </a:ext>
            </a:extLst>
          </p:cNvPr>
          <p:cNvSpPr txBox="1"/>
          <p:nvPr/>
        </p:nvSpPr>
        <p:spPr>
          <a:xfrm>
            <a:off x="5861050" y="473075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Stages of the Data Analytics Lifecycle</a:t>
            </a:r>
            <a:endParaRPr lang="en-IN" sz="3600" b="1" dirty="0">
              <a:latin typeface="Helvetica Neue" panose="02000603050000020004" pitchFamily="50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72990-CFC8-F540-F810-5191FE1AB799}"/>
              </a:ext>
            </a:extLst>
          </p:cNvPr>
          <p:cNvSpPr txBox="1"/>
          <p:nvPr/>
        </p:nvSpPr>
        <p:spPr>
          <a:xfrm>
            <a:off x="5937250" y="1764315"/>
            <a:ext cx="14166850" cy="833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Data Collection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 – Gathering information from sources (websites, sensors, sales records, surveys).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Flipkart collects what items you search for.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US" sz="24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Data Cleaning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 – Removing errors, duplicates, or incomplete data.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If you accidentally entered your phone number as 9999999999, that’s invalid and must be cleaned.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US" sz="24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Data Exploration &amp; Analysis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 – Understanding trends, patterns, and statistics.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A restaurant checking which food sells most during weekends.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US" sz="24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Data Modeling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 – Using algorithms to predict outcomes.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Predicting which students are at risk of failing based on past performance.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IN" sz="2400" dirty="0">
              <a:latin typeface="Helvetica Neue" panose="0200060305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3334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6A4E80-CBD6-D7BF-DEAB-FF251E9BD944}"/>
              </a:ext>
            </a:extLst>
          </p:cNvPr>
          <p:cNvSpPr txBox="1"/>
          <p:nvPr/>
        </p:nvSpPr>
        <p:spPr>
          <a:xfrm>
            <a:off x="6165850" y="1158875"/>
            <a:ext cx="12344400" cy="5830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ct val="150000"/>
              </a:lnSpc>
              <a:spcBef>
                <a:spcPts val="12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5. Data Visualization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 – Presenting results in charts and dashboards.</a:t>
            </a: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r>
              <a:rPr lang="en-US" sz="28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Your fitness app showing daily step count in a bar graph.</a:t>
            </a: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US" sz="28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rtl="0" fontAlgn="base">
              <a:lnSpc>
                <a:spcPct val="150000"/>
              </a:lnSpc>
              <a:spcAft>
                <a:spcPts val="1200"/>
              </a:spcAft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6. Decision Making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 – Using insights to take action.</a:t>
            </a: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r>
              <a:rPr lang="en-US" sz="28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A company increasing stock of umbrellas during monsoon because data shows higher demand.</a:t>
            </a: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US" sz="28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5063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34CB0-51F3-D99F-C912-6253CCB266DD}"/>
              </a:ext>
            </a:extLst>
          </p:cNvPr>
          <p:cNvSpPr txBox="1"/>
          <p:nvPr/>
        </p:nvSpPr>
        <p:spPr>
          <a:xfrm>
            <a:off x="5937250" y="701675"/>
            <a:ext cx="10050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Types of Data</a:t>
            </a:r>
            <a:endParaRPr lang="en-IN" sz="3200" b="1" dirty="0">
              <a:latin typeface="Helvetica Neue" panose="0200060305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85EA7-26CC-2FA7-3643-7C6642F7F4CF}"/>
              </a:ext>
            </a:extLst>
          </p:cNvPr>
          <p:cNvSpPr txBox="1"/>
          <p:nvPr/>
        </p:nvSpPr>
        <p:spPr>
          <a:xfrm>
            <a:off x="5937250" y="1920875"/>
            <a:ext cx="12799332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Structured Data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marL="742950" lvl="1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Organized in tables (rows &amp; columns).</a:t>
            </a:r>
          </a:p>
          <a:p>
            <a:pPr marL="742950" lvl="1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Easy to store in databases.</a:t>
            </a:r>
          </a:p>
          <a:p>
            <a:pPr marL="742950" lvl="1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Excel sheet of student marks, bank transactions.</a:t>
            </a: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US" sz="28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Semi-Structured Data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marL="742950" lvl="1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Not strictly in tables but has tags or structure.</a:t>
            </a:r>
          </a:p>
          <a:p>
            <a:pPr marL="742950" lvl="1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Emails (sender, receiver, subject + free text), JSON files.</a:t>
            </a: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</a:br>
            <a:endParaRPr lang="en-US" sz="28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Unstructured Data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Helvetica Neue" panose="02000603050000020004" pitchFamily="50" charset="-52"/>
            </a:endParaRPr>
          </a:p>
          <a:p>
            <a:pPr marL="742950" lvl="1" indent="-285750" rtl="0" fontAlgn="base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No fixed format. Harder to analyze.</a:t>
            </a:r>
            <a:endParaRPr lang="en-US" sz="2800" dirty="0">
              <a:solidFill>
                <a:srgbClr val="000000"/>
              </a:solidFill>
              <a:latin typeface="Helvetica Neue" panose="02000603050000020004" pitchFamily="50" charset="-52"/>
            </a:endParaRP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1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Example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Helvetica Neue" panose="02000603050000020004" pitchFamily="50" charset="-52"/>
              </a:rPr>
              <a:t>: Social media posts, videos, photos, customer reviews.</a:t>
            </a:r>
            <a:endParaRPr lang="en-IN" sz="4400" dirty="0">
              <a:latin typeface="Helvetica Neue" panose="0200060305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7485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330</Words>
  <Application>Microsoft Office PowerPoint</Application>
  <PresentationFormat>Custom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Design</dc:title>
  <dc:creator>Athul raj</dc:creator>
  <cp:lastModifiedBy>Athul raj</cp:lastModifiedBy>
  <cp:revision>6</cp:revision>
  <dcterms:created xsi:type="dcterms:W3CDTF">2025-03-25T05:40:56Z</dcterms:created>
  <dcterms:modified xsi:type="dcterms:W3CDTF">2025-09-25T08:53:19Z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2025-03-25T00:00:00Z</vt:filetime>
  </property>
  <property fmtid="{D5CDD505-2E9C-101B-9397-08002B2CF9AE}" pid="3" name="Creator">
    <vt:lpwstr>Adobe Illustrator 24.3 (Windows)</vt:lpwstr>
  </property>
  <property fmtid="{D5CDD505-2E9C-101B-9397-08002B2CF9AE}" pid="4" name="LastSaved">
    <vt:filetime>2025-03-25T00:00:00Z</vt:filetime>
  </property>
  <property fmtid="{D5CDD505-2E9C-101B-9397-08002B2CF9AE}" pid="5" name="Producer">
    <vt:lpwstr>Adobe PDF library 15.00</vt:lpwstr>
  </property>
</Properties>
</file>